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4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45720" cy="45720"/>
          </a:xfrm>
          <a:prstGeom prst="ellipse">
            <a:avLst/>
          </a:prstGeom>
          <a:solidFill>
            <a:srgbClr val="FFFFFF">
              <a:alpha val="6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05840" y="822960"/>
            <a:ext cx="45720" cy="45720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2011680" y="274320"/>
            <a:ext cx="45720" cy="45720"/>
          </a:xfrm>
          <a:prstGeom prst="ellipse">
            <a:avLst/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45720" cy="45720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663440" y="457200"/>
            <a:ext cx="45720" cy="45720"/>
          </a:xfrm>
          <a:prstGeom prst="ellipse">
            <a:avLst/>
          </a:prstGeom>
          <a:solidFill>
            <a:srgbClr val="FFFFFF">
              <a:alpha val="4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126480" y="731520"/>
            <a:ext cx="45720" cy="45720"/>
          </a:xfrm>
          <a:prstGeom prst="ellipse">
            <a:avLst/>
          </a:prstGeom>
          <a:solidFill>
            <a:srgbClr val="FFFFFF">
              <a:alpha val="3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0" y="274320"/>
            <a:ext cx="45720" cy="457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595360" y="182880"/>
            <a:ext cx="45720" cy="45720"/>
          </a:xfrm>
          <a:prstGeom prst="ellipse">
            <a:avLst/>
          </a:prstGeom>
          <a:solidFill>
            <a:srgbClr val="FFFFFF">
              <a:alpha val="7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45720" cy="45720"/>
          </a:xfrm>
          <a:prstGeom prst="ellipse">
            <a:avLst/>
          </a:prstGeom>
          <a:solidFill>
            <a:srgbClr val="FFFFFF">
              <a:alpha val="4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286000" y="4663440"/>
            <a:ext cx="45720" cy="45720"/>
          </a:xfrm>
          <a:prstGeom prst="ellipse">
            <a:avLst/>
          </a:prstGeom>
          <a:solidFill>
            <a:srgbClr val="FFFFFF">
              <a:alpha val="5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657600" y="4297680"/>
            <a:ext cx="45720" cy="45720"/>
          </a:xfrm>
          <a:prstGeom prst="ellipse">
            <a:avLst/>
          </a:prstGeom>
          <a:solidFill>
            <a:srgbClr val="FFFFFF">
              <a:alpha val="47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669280" y="4754880"/>
            <a:ext cx="45720" cy="45720"/>
          </a:xfrm>
          <a:prstGeom prst="ellipse">
            <a:avLst/>
          </a:prstGeom>
          <a:solidFill>
            <a:srgbClr val="FFFFFF">
              <a:alpha val="3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858000" y="4480560"/>
            <a:ext cx="45720" cy="4572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321040" y="4846320"/>
            <a:ext cx="45720" cy="45720"/>
          </a:xfrm>
          <a:prstGeom prst="ellipse">
            <a:avLst/>
          </a:prstGeom>
          <a:solidFill>
            <a:srgbClr val="FFFFFF">
              <a:alpha val="63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1554480" y="2560320"/>
            <a:ext cx="45720" cy="45720"/>
          </a:xfrm>
          <a:prstGeom prst="ellipse">
            <a:avLst/>
          </a:prstGeom>
          <a:solidFill>
            <a:srgbClr val="FFFFFF">
              <a:alpha val="31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389120" y="2011680"/>
            <a:ext cx="45720" cy="45720"/>
          </a:xfrm>
          <a:prstGeom prst="ellipse">
            <a:avLst/>
          </a:prstGeom>
          <a:solidFill>
            <a:srgbClr val="FFFFFF">
              <a:alpha val="4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7589520" y="3200400"/>
            <a:ext cx="45720" cy="457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315200" y="182880"/>
            <a:ext cx="2560320" cy="256032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7680960" y="457200"/>
            <a:ext cx="1645920" cy="1645920"/>
          </a:xfrm>
          <a:prstGeom prst="ellipse">
            <a:avLst/>
          </a:prstGeom>
          <a:solidFill>
            <a:srgbClr val="0D3B66">
              <a:alpha val="4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02920" y="233172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57200" y="9601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Türü Sınıflandırması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Karar Ağacı · Random Forest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Algoritmaları ile Karşılaştırmalı Analiz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8229600" cy="9144"/>
          </a:xfrm>
          <a:prstGeom prst="rect">
            <a:avLst/>
          </a:prstGeom>
          <a:solidFill>
            <a:srgbClr val="0077A8">
              <a:alpha val="40000"/>
            </a:srgbClr>
          </a:solidFill>
          <a:ln w="12700">
            <a:solidFill>
              <a:srgbClr val="0077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ARIKAN  |  Arslan Efe ATEŞ  |  Hasan Can KULA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 Karatay Üniversitesi · Bilgisayar Mühendisliği · Veri Madenciliğine Giriş  |  Mayıs 2026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976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077A8">
              <a:alpha val="3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502920" y="4315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Yıldız · 6 Sınıf · 3 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 &amp; Veri Seti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023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Amaç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Yıldızların fiziksel özelliklerinden türlerini otomatik tespit edebilen bir makine öğrenmesi sistemi geliştirmek.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Soruları: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özellikler yüksek doğrulukla sınıflandırılabilir mi?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Karar Ağacı, Random Forest hangisi daha uygun?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belirleyici özellikler hangileri?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 overfitting yaşıyor mu?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868680"/>
            <a:ext cx="4343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526280" y="868680"/>
            <a:ext cx="4343400" cy="384048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Veri Seti — Kaggle Stars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316736"/>
            <a:ext cx="1298448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617720" y="133502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1783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16736"/>
            <a:ext cx="1298448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035040" y="133502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35040" y="1783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1316736"/>
            <a:ext cx="1298448" cy="822960"/>
          </a:xfrm>
          <a:prstGeom prst="rect">
            <a:avLst/>
          </a:prstGeom>
          <a:solidFill>
            <a:srgbClr val="E8F4F8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452360" y="133502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52360" y="178308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240280"/>
          <a:ext cx="3703320" cy="25146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Dwarf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Dwarf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Dwarf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Sequence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Supergiant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Hypergiant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0D3B66">
              <a:alpha val="7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38912" y="1124712"/>
            <a:ext cx="502920" cy="50292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38912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 Analizi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618488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kayıtta hiç eksik değer (null/NaN) tespit edilmedi. Ek imputation gerekmedi.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0D3B66">
              <a:alpha val="7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38912" y="3136392"/>
            <a:ext cx="502920" cy="50292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3891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3136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Sütunu Temizliği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" y="3630168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'Blue-white', 'blue-white' gibi tutarsız yazımlar standardize edildi ve tutarlı kategorilere eşlendi.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0D3B66">
              <a:alpha val="70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873752" y="1124712"/>
            <a:ext cx="502920" cy="502920"/>
          </a:xfrm>
          <a:prstGeom prst="ellipse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873752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58968" y="11247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 Kodlama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73752" y="1618488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Color_Clean ve Spectral_Class sütunları Label Encoding ile sayısal değerlere dönüştürüldü.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0D3B66">
              <a:alpha val="70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873752" y="3136392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73752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58968" y="31363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Bölümleme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3630168"/>
            <a:ext cx="3904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Eğitim (192 kayıt) / %20 Test (48 kayıt). Stratified split ile sınıf dengesi korundu.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StandardScaler: Yalnızca eğitim seti üzerinde fit edildi, test seti transform ile dönüştürüldü. KNN için kritik adım.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— Sınıf Dağılımı &amp; HR Diyagramı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6234297" cy="291824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059748" y="86953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Dağılımı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83235" y="799446"/>
            <a:ext cx="2860766" cy="2923467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299704" y="836023"/>
            <a:ext cx="2798576" cy="224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Hertzsprung-Russell Diyagramı</a:t>
            </a:r>
            <a:endParaRPr lang="en-US" sz="130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972EC25B-03EF-3931-854A-70DCB9425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609" y="1124208"/>
            <a:ext cx="2860766" cy="227394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5EB6B7C4-CCE1-33CE-F0AB-E3091FCC0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88812"/>
            <a:ext cx="6226109" cy="2351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— Dağılımlar &amp; Korelasyon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19" y="804672"/>
            <a:ext cx="5652403" cy="310727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94480" y="82922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Özellik Dağılımları (Ham &amp; Log)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76944" y="804672"/>
            <a:ext cx="2897237" cy="310727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117710" y="841248"/>
            <a:ext cx="2810752" cy="29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Korelasyon Matrisi</a:t>
            </a:r>
            <a:endParaRPr lang="en-US" sz="1300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4BD90419-4103-512E-FB81-A7AE0F07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45" y="1231558"/>
            <a:ext cx="2897236" cy="2513025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448B1911-C164-C5F3-2CD5-D70C2B542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27" y="1149261"/>
            <a:ext cx="5667895" cy="2595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— Sınıfa Göre Özellik Dağılımı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3691" y="758952"/>
            <a:ext cx="8856617" cy="428984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BD6BA7AC-A6C8-04D5-B899-541375E46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02" y="868680"/>
            <a:ext cx="6587195" cy="4075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 — Hiperparametre Optimizasyonu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1024128"/>
          </a:xfrm>
          <a:prstGeom prst="rect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64008" cy="10241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20624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→ CV: 97.08%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Yakın Komşu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Öklid mesafesi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Parametrik değil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788920" cy="1024128"/>
          </a:xfrm>
          <a:prstGeom prst="rect">
            <a:avLst/>
          </a:prstGeom>
          <a:solidFill>
            <a:srgbClr val="4CAF50">
              <a:alpha val="15000"/>
            </a:srgbClr>
          </a:solidFill>
          <a:ln w="12700">
            <a:solidFill>
              <a:srgbClr val="4CAF5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27832" y="804672"/>
            <a:ext cx="73152" cy="102412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374136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74136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depth=4 → CV: 99.58%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74136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indeksi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yorumlanabilirlik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804672"/>
            <a:ext cx="2788920" cy="1024128"/>
          </a:xfrm>
          <a:prstGeom prst="rect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181344" y="804672"/>
            <a:ext cx="73152" cy="1024128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327648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27648" y="1161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OOB: 99.48%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27648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ağaç · Bagging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D5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OOB doğrulama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083" y="1847088"/>
            <a:ext cx="8797834" cy="3206931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26" name="Resim 25">
            <a:extLst>
              <a:ext uri="{FF2B5EF4-FFF2-40B4-BE49-F238E27FC236}">
                <a16:creationId xmlns:a16="http://schemas.microsoft.com/office/drawing/2014/main" id="{4E1435B9-6FE1-9AAF-2CA3-AB5AB23A0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30" y="1949735"/>
            <a:ext cx="8797834" cy="30859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— Karmaşıklık Matrisleri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749808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Doğruluk: 93.75%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hata: Supergiant ↔ Hypergiant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788920" cy="749808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319272" y="822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(depth=4)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9272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Doğruluk: 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13533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sınıflandırma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804672"/>
            <a:ext cx="2788920" cy="749808"/>
          </a:xfrm>
          <a:prstGeom prst="rect">
            <a:avLst/>
          </a:prstGeom>
          <a:solidFill>
            <a:srgbClr val="FF5722">
              <a:alpha val="20000"/>
            </a:srgbClr>
          </a:solidFill>
          <a:ln w="12700">
            <a:solidFill>
              <a:srgbClr val="FF572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272784" y="822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ağaç)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097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Doğruluk: 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135331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 sınıflandırma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664208"/>
            <a:ext cx="8595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1A1F677E-A893-5C07-07EE-E465E2971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17739"/>
            <a:ext cx="8595360" cy="26136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 — Performans Metrikleri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07523"/>
              </p:ext>
            </p:extLst>
          </p:nvPr>
        </p:nvGraphicFramePr>
        <p:xfrm>
          <a:off x="453934" y="792915"/>
          <a:ext cx="8236131" cy="1169128"/>
        </p:xfrm>
        <a:graphic>
          <a:graphicData uri="http://schemas.openxmlformats.org/drawingml/2006/table">
            <a:tbl>
              <a:tblPr/>
              <a:tblGrid>
                <a:gridCol w="1927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9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4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Ort. ± Std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Skoru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97.08% ±1.67%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 (depth=4)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99.58% ±0.83%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28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(100)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99.58% ±0.83%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9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050870"/>
            <a:ext cx="8595360" cy="288689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513ED3E3-D255-AC1E-D8A6-D96BBC3C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829" y="2057997"/>
            <a:ext cx="6804339" cy="28797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0" y="667512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Önemi &amp; Öğrenme Eğrileri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19543" y="742607"/>
            <a:ext cx="3331029" cy="21501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253344" y="795495"/>
            <a:ext cx="3101286" cy="270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Özellik Önemi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219543" y="2854218"/>
            <a:ext cx="6924457" cy="228928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Text 31"/>
          <p:cNvSpPr/>
          <p:nvPr/>
        </p:nvSpPr>
        <p:spPr>
          <a:xfrm>
            <a:off x="4424472" y="2797411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Eğrileri</a:t>
            </a:r>
            <a:endParaRPr lang="en-US" sz="1200" dirty="0"/>
          </a:p>
        </p:txBody>
      </p:sp>
      <p:pic>
        <p:nvPicPr>
          <p:cNvPr id="38" name="Resim 37">
            <a:extLst>
              <a:ext uri="{FF2B5EF4-FFF2-40B4-BE49-F238E27FC236}">
                <a16:creationId xmlns:a16="http://schemas.microsoft.com/office/drawing/2014/main" id="{632C259E-4B06-6797-FC94-61706E3D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193" y="1106474"/>
            <a:ext cx="3199161" cy="1757859"/>
          </a:xfrm>
          <a:prstGeom prst="rect">
            <a:avLst/>
          </a:prstGeom>
        </p:spPr>
      </p:pic>
      <p:pic>
        <p:nvPicPr>
          <p:cNvPr id="42" name="Resim 41">
            <a:extLst>
              <a:ext uri="{FF2B5EF4-FFF2-40B4-BE49-F238E27FC236}">
                <a16:creationId xmlns:a16="http://schemas.microsoft.com/office/drawing/2014/main" id="{32974A51-23D5-1AB4-B5C2-512593B06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543" y="3104471"/>
            <a:ext cx="6924457" cy="1909127"/>
          </a:xfrm>
          <a:prstGeom prst="rect">
            <a:avLst/>
          </a:prstGeom>
        </p:spPr>
      </p:pic>
      <p:sp>
        <p:nvSpPr>
          <p:cNvPr id="68" name="Text 5">
            <a:extLst>
              <a:ext uri="{FF2B5EF4-FFF2-40B4-BE49-F238E27FC236}">
                <a16:creationId xmlns:a16="http://schemas.microsoft.com/office/drawing/2014/main" id="{DD43FDE6-1E2C-6467-0C4B-08EC8546D3D3}"/>
              </a:ext>
            </a:extLst>
          </p:cNvPr>
          <p:cNvSpPr/>
          <p:nvPr/>
        </p:nvSpPr>
        <p:spPr>
          <a:xfrm>
            <a:off x="87373" y="94645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 Sıralaması</a:t>
            </a:r>
            <a:endParaRPr lang="en-US" sz="1200" dirty="0"/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27A928DB-25C2-4576-3801-B024C17E39CA}"/>
              </a:ext>
            </a:extLst>
          </p:cNvPr>
          <p:cNvSpPr/>
          <p:nvPr/>
        </p:nvSpPr>
        <p:spPr>
          <a:xfrm>
            <a:off x="87373" y="133964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Mut. Büyüklük</a:t>
            </a:r>
            <a:endParaRPr lang="en-US" sz="1050" dirty="0"/>
          </a:p>
        </p:txBody>
      </p:sp>
      <p:sp>
        <p:nvSpPr>
          <p:cNvPr id="70" name="Shape 7">
            <a:extLst>
              <a:ext uri="{FF2B5EF4-FFF2-40B4-BE49-F238E27FC236}">
                <a16:creationId xmlns:a16="http://schemas.microsoft.com/office/drawing/2014/main" id="{F4D06BD1-9B20-BF2A-2FD2-987ED55F4134}"/>
              </a:ext>
            </a:extLst>
          </p:cNvPr>
          <p:cNvSpPr/>
          <p:nvPr/>
        </p:nvSpPr>
        <p:spPr>
          <a:xfrm>
            <a:off x="87373" y="161396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1" name="Shape 8">
            <a:extLst>
              <a:ext uri="{FF2B5EF4-FFF2-40B4-BE49-F238E27FC236}">
                <a16:creationId xmlns:a16="http://schemas.microsoft.com/office/drawing/2014/main" id="{B253E8B7-78D9-D390-36D3-65FF8BD89651}"/>
              </a:ext>
            </a:extLst>
          </p:cNvPr>
          <p:cNvSpPr/>
          <p:nvPr/>
        </p:nvSpPr>
        <p:spPr>
          <a:xfrm>
            <a:off x="87373" y="1613966"/>
            <a:ext cx="1563624" cy="182880"/>
          </a:xfrm>
          <a:prstGeom prst="rect">
            <a:avLst/>
          </a:prstGeom>
          <a:solidFill>
            <a:srgbClr val="2196F3">
              <a:alpha val="80000"/>
            </a:srgbClr>
          </a:solidFill>
          <a:ln w="12700">
            <a:solidFill>
              <a:srgbClr val="2196F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9">
            <a:extLst>
              <a:ext uri="{FF2B5EF4-FFF2-40B4-BE49-F238E27FC236}">
                <a16:creationId xmlns:a16="http://schemas.microsoft.com/office/drawing/2014/main" id="{EE768496-73D3-6F8C-4133-1E01765DCF61}"/>
              </a:ext>
            </a:extLst>
          </p:cNvPr>
          <p:cNvSpPr/>
          <p:nvPr/>
        </p:nvSpPr>
        <p:spPr>
          <a:xfrm>
            <a:off x="1779013" y="159567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</a:t>
            </a:r>
            <a:endParaRPr lang="en-US" sz="1000" dirty="0"/>
          </a:p>
        </p:txBody>
      </p:sp>
      <p:sp>
        <p:nvSpPr>
          <p:cNvPr id="73" name="Text 10">
            <a:extLst>
              <a:ext uri="{FF2B5EF4-FFF2-40B4-BE49-F238E27FC236}">
                <a16:creationId xmlns:a16="http://schemas.microsoft.com/office/drawing/2014/main" id="{A14AB323-B001-3104-D67D-6C54B5EB34C4}"/>
              </a:ext>
            </a:extLst>
          </p:cNvPr>
          <p:cNvSpPr/>
          <p:nvPr/>
        </p:nvSpPr>
        <p:spPr>
          <a:xfrm>
            <a:off x="87373" y="193400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Yarıçap</a:t>
            </a:r>
            <a:endParaRPr lang="en-US" sz="105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067A831E-812E-E8F2-208F-F9E5A9A42728}"/>
              </a:ext>
            </a:extLst>
          </p:cNvPr>
          <p:cNvSpPr/>
          <p:nvPr/>
        </p:nvSpPr>
        <p:spPr>
          <a:xfrm>
            <a:off x="87373" y="220832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5" name="Shape 12">
            <a:extLst>
              <a:ext uri="{FF2B5EF4-FFF2-40B4-BE49-F238E27FC236}">
                <a16:creationId xmlns:a16="http://schemas.microsoft.com/office/drawing/2014/main" id="{77650E58-FDC6-8B16-E640-04E010F92274}"/>
              </a:ext>
            </a:extLst>
          </p:cNvPr>
          <p:cNvSpPr/>
          <p:nvPr/>
        </p:nvSpPr>
        <p:spPr>
          <a:xfrm>
            <a:off x="87373" y="2208326"/>
            <a:ext cx="1399032" cy="182880"/>
          </a:xfrm>
          <a:prstGeom prst="rect">
            <a:avLst/>
          </a:prstGeom>
          <a:solidFill>
            <a:srgbClr val="4CAF50">
              <a:alpha val="80000"/>
            </a:srgbClr>
          </a:solidFill>
          <a:ln w="12700">
            <a:solidFill>
              <a:srgbClr val="4CAF5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33D9DCDD-BFDC-88D2-6B2E-38041D831D0B}"/>
              </a:ext>
            </a:extLst>
          </p:cNvPr>
          <p:cNvSpPr/>
          <p:nvPr/>
        </p:nvSpPr>
        <p:spPr>
          <a:xfrm>
            <a:off x="1779013" y="219003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0.306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0A772620-3A09-BF38-8256-1C0C35909426}"/>
              </a:ext>
            </a:extLst>
          </p:cNvPr>
          <p:cNvSpPr/>
          <p:nvPr/>
        </p:nvSpPr>
        <p:spPr>
          <a:xfrm>
            <a:off x="87373" y="252836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Parlaklık</a:t>
            </a:r>
            <a:endParaRPr lang="en-US" sz="1050" dirty="0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83DEF9FB-6021-CADB-DF65-E951A5B32C42}"/>
              </a:ext>
            </a:extLst>
          </p:cNvPr>
          <p:cNvSpPr/>
          <p:nvPr/>
        </p:nvSpPr>
        <p:spPr>
          <a:xfrm>
            <a:off x="87373" y="280268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9" name="Shape 16">
            <a:extLst>
              <a:ext uri="{FF2B5EF4-FFF2-40B4-BE49-F238E27FC236}">
                <a16:creationId xmlns:a16="http://schemas.microsoft.com/office/drawing/2014/main" id="{93E9AF2A-A3B0-69E7-85AB-156E90FC91B0}"/>
              </a:ext>
            </a:extLst>
          </p:cNvPr>
          <p:cNvSpPr/>
          <p:nvPr/>
        </p:nvSpPr>
        <p:spPr>
          <a:xfrm>
            <a:off x="87373" y="2802686"/>
            <a:ext cx="691286" cy="182880"/>
          </a:xfrm>
          <a:prstGeom prst="rect">
            <a:avLst/>
          </a:prstGeom>
          <a:solidFill>
            <a:srgbClr val="FF9800">
              <a:alpha val="80000"/>
            </a:srgbClr>
          </a:solidFill>
          <a:ln w="12700">
            <a:solidFill>
              <a:srgbClr val="FF98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Text 17">
            <a:extLst>
              <a:ext uri="{FF2B5EF4-FFF2-40B4-BE49-F238E27FC236}">
                <a16:creationId xmlns:a16="http://schemas.microsoft.com/office/drawing/2014/main" id="{39BA744B-13E7-5772-7409-9D793E2D5653}"/>
              </a:ext>
            </a:extLst>
          </p:cNvPr>
          <p:cNvSpPr/>
          <p:nvPr/>
        </p:nvSpPr>
        <p:spPr>
          <a:xfrm>
            <a:off x="1779013" y="278439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0.150</a:t>
            </a:r>
            <a:endParaRPr lang="en-US" sz="1000" dirty="0"/>
          </a:p>
        </p:txBody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398FF589-552F-A0FB-6D70-2107C6A296D8}"/>
              </a:ext>
            </a:extLst>
          </p:cNvPr>
          <p:cNvSpPr/>
          <p:nvPr/>
        </p:nvSpPr>
        <p:spPr>
          <a:xfrm>
            <a:off x="87373" y="312272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</a:t>
            </a:r>
            <a:endParaRPr lang="en-US" sz="1050" dirty="0"/>
          </a:p>
        </p:txBody>
      </p:sp>
      <p:sp>
        <p:nvSpPr>
          <p:cNvPr id="82" name="Shape 19">
            <a:extLst>
              <a:ext uri="{FF2B5EF4-FFF2-40B4-BE49-F238E27FC236}">
                <a16:creationId xmlns:a16="http://schemas.microsoft.com/office/drawing/2014/main" id="{A823C168-C934-EE10-E4DE-10B80735F1B4}"/>
              </a:ext>
            </a:extLst>
          </p:cNvPr>
          <p:cNvSpPr/>
          <p:nvPr/>
        </p:nvSpPr>
        <p:spPr>
          <a:xfrm>
            <a:off x="87373" y="339704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3" name="Shape 20">
            <a:extLst>
              <a:ext uri="{FF2B5EF4-FFF2-40B4-BE49-F238E27FC236}">
                <a16:creationId xmlns:a16="http://schemas.microsoft.com/office/drawing/2014/main" id="{720E1DEC-7D0A-0C4D-CD6A-C93AE61914E3}"/>
              </a:ext>
            </a:extLst>
          </p:cNvPr>
          <p:cNvSpPr/>
          <p:nvPr/>
        </p:nvSpPr>
        <p:spPr>
          <a:xfrm>
            <a:off x="87373" y="3397046"/>
            <a:ext cx="411480" cy="182880"/>
          </a:xfrm>
          <a:prstGeom prst="rect">
            <a:avLst/>
          </a:prstGeom>
          <a:solidFill>
            <a:srgbClr val="9C27B0">
              <a:alpha val="80000"/>
            </a:srgbClr>
          </a:solidFill>
          <a:ln w="12700">
            <a:solidFill>
              <a:srgbClr val="9C27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Text 21">
            <a:extLst>
              <a:ext uri="{FF2B5EF4-FFF2-40B4-BE49-F238E27FC236}">
                <a16:creationId xmlns:a16="http://schemas.microsoft.com/office/drawing/2014/main" id="{9E9DCE7A-2B87-94BE-635F-6345E8D6D467}"/>
              </a:ext>
            </a:extLst>
          </p:cNvPr>
          <p:cNvSpPr/>
          <p:nvPr/>
        </p:nvSpPr>
        <p:spPr>
          <a:xfrm>
            <a:off x="1779013" y="337875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0.090</a:t>
            </a:r>
            <a:endParaRPr lang="en-US" sz="10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2B9C172D-9EFC-6BF4-374B-9B11637A003A}"/>
              </a:ext>
            </a:extLst>
          </p:cNvPr>
          <p:cNvSpPr/>
          <p:nvPr/>
        </p:nvSpPr>
        <p:spPr>
          <a:xfrm>
            <a:off x="87373" y="371708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Spektral Sınıf</a:t>
            </a:r>
            <a:endParaRPr lang="en-US" sz="1050" dirty="0"/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7E6E4B1B-DB62-55D8-2674-94F5548CDC36}"/>
              </a:ext>
            </a:extLst>
          </p:cNvPr>
          <p:cNvSpPr/>
          <p:nvPr/>
        </p:nvSpPr>
        <p:spPr>
          <a:xfrm>
            <a:off x="87373" y="399140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7" name="Shape 24">
            <a:extLst>
              <a:ext uri="{FF2B5EF4-FFF2-40B4-BE49-F238E27FC236}">
                <a16:creationId xmlns:a16="http://schemas.microsoft.com/office/drawing/2014/main" id="{B4AB20C8-E8C2-BCB4-ED4F-853FFDFEB1F5}"/>
              </a:ext>
            </a:extLst>
          </p:cNvPr>
          <p:cNvSpPr/>
          <p:nvPr/>
        </p:nvSpPr>
        <p:spPr>
          <a:xfrm>
            <a:off x="87373" y="3991406"/>
            <a:ext cx="411480" cy="182880"/>
          </a:xfrm>
          <a:prstGeom prst="rect">
            <a:avLst/>
          </a:prstGeom>
          <a:solidFill>
            <a:srgbClr val="F44336">
              <a:alpha val="80000"/>
            </a:srgbClr>
          </a:solidFill>
          <a:ln w="12700">
            <a:solidFill>
              <a:srgbClr val="F4433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Text 25">
            <a:extLst>
              <a:ext uri="{FF2B5EF4-FFF2-40B4-BE49-F238E27FC236}">
                <a16:creationId xmlns:a16="http://schemas.microsoft.com/office/drawing/2014/main" id="{7F90B401-5661-9B32-941D-D56DFEEC2202}"/>
              </a:ext>
            </a:extLst>
          </p:cNvPr>
          <p:cNvSpPr/>
          <p:nvPr/>
        </p:nvSpPr>
        <p:spPr>
          <a:xfrm>
            <a:off x="1779013" y="397311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0.089</a:t>
            </a:r>
            <a:endParaRPr lang="en-US" sz="1000" dirty="0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58A1A48C-5A49-4B97-B60D-9B04AD40D79A}"/>
              </a:ext>
            </a:extLst>
          </p:cNvPr>
          <p:cNvSpPr/>
          <p:nvPr/>
        </p:nvSpPr>
        <p:spPr>
          <a:xfrm>
            <a:off x="87373" y="431144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</a:t>
            </a:r>
            <a:endParaRPr lang="en-US" sz="1050" dirty="0"/>
          </a:p>
        </p:txBody>
      </p:sp>
      <p:sp>
        <p:nvSpPr>
          <p:cNvPr id="90" name="Shape 27">
            <a:extLst>
              <a:ext uri="{FF2B5EF4-FFF2-40B4-BE49-F238E27FC236}">
                <a16:creationId xmlns:a16="http://schemas.microsoft.com/office/drawing/2014/main" id="{E500CBA3-7739-8B6B-B093-31B7CEE8726E}"/>
              </a:ext>
            </a:extLst>
          </p:cNvPr>
          <p:cNvSpPr/>
          <p:nvPr/>
        </p:nvSpPr>
        <p:spPr>
          <a:xfrm>
            <a:off x="87373" y="4585766"/>
            <a:ext cx="1645920" cy="18288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1" name="Shape 28">
            <a:extLst>
              <a:ext uri="{FF2B5EF4-FFF2-40B4-BE49-F238E27FC236}">
                <a16:creationId xmlns:a16="http://schemas.microsoft.com/office/drawing/2014/main" id="{56B35F28-7289-F293-13FC-36B748249ADC}"/>
              </a:ext>
            </a:extLst>
          </p:cNvPr>
          <p:cNvSpPr/>
          <p:nvPr/>
        </p:nvSpPr>
        <p:spPr>
          <a:xfrm>
            <a:off x="87373" y="4585766"/>
            <a:ext cx="98755" cy="182880"/>
          </a:xfrm>
          <a:prstGeom prst="rect">
            <a:avLst/>
          </a:prstGeom>
          <a:solidFill>
            <a:srgbClr val="607D8B">
              <a:alpha val="80000"/>
            </a:srgbClr>
          </a:solidFill>
          <a:ln w="12700">
            <a:solidFill>
              <a:srgbClr val="607D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Text 29">
            <a:extLst>
              <a:ext uri="{FF2B5EF4-FFF2-40B4-BE49-F238E27FC236}">
                <a16:creationId xmlns:a16="http://schemas.microsoft.com/office/drawing/2014/main" id="{FBD9E663-CDB3-D065-CA29-76A5F2833DEC}"/>
              </a:ext>
            </a:extLst>
          </p:cNvPr>
          <p:cNvSpPr/>
          <p:nvPr/>
        </p:nvSpPr>
        <p:spPr>
          <a:xfrm>
            <a:off x="1779013" y="456747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483</Words>
  <Application>Microsoft Office PowerPoint</Application>
  <PresentationFormat>Ekran Gösterisi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Yıldız Türü Sınıflandırması</dc:title>
  <dc:subject>PptxGenJS Presentation</dc:subject>
  <dc:creator>PptxGenJS</dc:creator>
  <cp:lastModifiedBy>MUSTAFA ARIKAN</cp:lastModifiedBy>
  <cp:revision>4</cp:revision>
  <dcterms:created xsi:type="dcterms:W3CDTF">2026-05-10T11:17:27Z</dcterms:created>
  <dcterms:modified xsi:type="dcterms:W3CDTF">2026-05-10T11:41:38Z</dcterms:modified>
</cp:coreProperties>
</file>